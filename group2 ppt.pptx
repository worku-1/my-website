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26" autoAdjust="0"/>
    <p:restoredTop sz="94660"/>
  </p:normalViewPr>
  <p:slideViewPr>
    <p:cSldViewPr>
      <p:cViewPr varScale="1">
        <p:scale>
          <a:sx n="81" d="100"/>
          <a:sy n="81" d="100"/>
        </p:scale>
        <p:origin x="-1191" y="-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E5540-8DDF-485E-B528-A43E8750833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40829-3A5B-4B5A-8FF8-E89146A3D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300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831D9-8D9C-4577-ABF2-0D18A4932E45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68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C37F2-F096-4D22-AF3F-39FC62EB21D9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87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91B19-B69A-4943-934A-C6F782E9180B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9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BC177-1F81-441B-A476-C000A848EC61}" type="datetime1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87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6C36-94CE-42B0-A4D7-BF4A6361B505}" type="datetime1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27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3C27-FCC9-4C6D-9BDA-72F2D4191DDC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22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C553E-6001-4F68-91C1-79B948EAD6D4}" type="datetime1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438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71FC5-9D4C-44F8-9BA6-B610523C3C4E}" type="datetime1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74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4AAC3-96BA-4354-953A-C5B9B9BFC41D}" type="datetime1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20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319B-19FE-49D8-9EDE-0F99EF3238C0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7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9322E-69C3-44FF-92BA-C6360F2A37E9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127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1A04C-207B-459A-8F69-AEB0646C4720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83D15-C351-4604-8CE3-DA104C24B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89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404664"/>
            <a:ext cx="8568952" cy="6120680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DEBARK UNIVERSITY</a:t>
            </a:r>
          </a:p>
          <a:p>
            <a:r>
              <a:rPr lang="en-GB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COLLAGE OF NATURAL  AND COMPUTATIONAL SCINCE     DEPARTMENT OF COMPUTER  SCINCE</a:t>
            </a:r>
          </a:p>
          <a:p>
            <a:r>
              <a:rPr lang="en-GB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COURSE TITLE:</a:t>
            </a:r>
            <a:r>
              <a:rPr lang="en-GB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PROGRAMMING</a:t>
            </a:r>
          </a:p>
          <a:p>
            <a:endParaRPr lang="en-GB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GROUP TWO (2)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0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</a:t>
            </a:r>
            <a:r>
              <a:rPr lang="en-US" sz="20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1 WORKYE   YETEMEGN………………..…....1600936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  ASNAKEW MISGANEW……………..….…..1600638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  MEKDES ABABU……………………….…...1600819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  ENDEGENA MOLLA ……………………….1602043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  ZEMENAY  AYELGEN………………………1600972</a:t>
            </a:r>
          </a:p>
          <a:p>
            <a:pPr algn="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Submitted to:  MR : YESHAMBEL  A.</a:t>
            </a:r>
          </a:p>
          <a:p>
            <a:pPr algn="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Submission Date:14/07/2018 E.C</a:t>
            </a:r>
          </a:p>
          <a:p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DEBARK ETHIOPIA</a:t>
            </a:r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0954-E4FE-43DB-9F06-6B2459E8CEEE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90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264696"/>
          </a:xfrm>
        </p:spPr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</a:t>
            </a:r>
            <a:r>
              <a:rPr lang="en-GB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Project Title: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Digital Supply Chain Management for Fertilizer Distribution.</a:t>
            </a:r>
            <a:endParaRPr lang="en-GB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8769-504A-49B5-A48F-40FC730AA8E8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03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60648"/>
            <a:ext cx="8856984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                    System </a:t>
            </a:r>
            <a:r>
              <a:rPr lang="en-GB" b="1" dirty="0"/>
              <a:t>Overview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Purpose</a:t>
            </a:r>
            <a:r>
              <a:rPr lang="en-GB" sz="2400" dirty="0"/>
              <a:t>: Track fertilizer inventory, distribution, and shipments from central warehouses to farmers in the Debark region.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Target Users</a:t>
            </a:r>
            <a:r>
              <a:rPr lang="en-GB" sz="2400" dirty="0"/>
              <a:t>: Admin, Supplier, Retailer, and Customer (Farmer) roles.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Core Benefits</a:t>
            </a:r>
            <a:r>
              <a:rPr lang="en-GB" sz="2400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Real‑time inventory visibility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Distribution tracking by region and fertilizer type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Shipment monitoring with status updates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Comprehensive reporting and analytics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Role‑based access control</a:t>
            </a:r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72AF-8CED-4531-9388-0BF449DD6F02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8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sz="3100" b="1" dirty="0" smtClean="0"/>
              <a:t/>
            </a:r>
            <a:br>
              <a:rPr lang="en-GB" sz="3100" b="1" dirty="0" smtClean="0"/>
            </a:br>
            <a:r>
              <a:rPr lang="en-GB" sz="3100" b="1" dirty="0" smtClean="0"/>
              <a:t>Technology Stack</a:t>
            </a:r>
            <a:r>
              <a:rPr lang="en-GB" b="1" dirty="0"/>
              <a:t/>
            </a:r>
            <a:br>
              <a:rPr lang="en-GB" b="1" dirty="0"/>
            </a:br>
            <a:endParaRPr lang="en-GB" dirty="0"/>
          </a:p>
        </p:txBody>
      </p:sp>
      <p:pic>
        <p:nvPicPr>
          <p:cNvPr id="2049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68797"/>
            <a:ext cx="8362950" cy="4839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32FD-FF0F-42C5-8ABE-DD7DC85D91E0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90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568952" cy="6336704"/>
          </a:xfrm>
        </p:spPr>
        <p:txBody>
          <a:bodyPr/>
          <a:lstStyle/>
          <a:p>
            <a:pPr marL="0" indent="0">
              <a:buNone/>
            </a:pPr>
            <a:r>
              <a:rPr lang="en-GB" b="1" dirty="0" smtClean="0"/>
              <a:t>               </a:t>
            </a:r>
            <a:r>
              <a:rPr lang="en-GB" sz="2800" b="1" dirty="0" smtClean="0"/>
              <a:t>User </a:t>
            </a:r>
            <a:r>
              <a:rPr lang="en-GB" sz="2800" b="1" dirty="0"/>
              <a:t>Roles &amp; Access Rights</a:t>
            </a:r>
          </a:p>
          <a:p>
            <a:endParaRPr lang="en-GB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030349"/>
            <a:ext cx="7281863" cy="4270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4B6E-B8C6-43EE-9B69-E6D10BCA47C3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799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1520" y="188640"/>
            <a:ext cx="8568952" cy="64087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endParaRPr lang="en-GB" b="1" dirty="0" smtClean="0"/>
          </a:p>
          <a:p>
            <a:pPr>
              <a:buFont typeface="Wingdings" pitchFamily="2" charset="2"/>
              <a:buChar char="§"/>
            </a:pPr>
            <a:endParaRPr lang="en-GB" b="1" dirty="0"/>
          </a:p>
          <a:p>
            <a:pPr marL="0" indent="0">
              <a:buNone/>
            </a:pPr>
            <a:r>
              <a:rPr lang="en-GB" b="1" dirty="0" smtClean="0"/>
              <a:t>Dashboard </a:t>
            </a:r>
            <a:r>
              <a:rPr lang="en-GB" b="1" dirty="0"/>
              <a:t>(Admin View)</a:t>
            </a:r>
          </a:p>
          <a:p>
            <a:pPr>
              <a:buFont typeface="Wingdings" pitchFamily="2" charset="2"/>
              <a:buChar char="v"/>
            </a:pPr>
            <a:r>
              <a:rPr lang="en-GB" b="1" dirty="0" smtClean="0"/>
              <a:t>  Key </a:t>
            </a:r>
            <a:r>
              <a:rPr lang="en-GB" b="1" dirty="0"/>
              <a:t>Metrics Cards</a:t>
            </a:r>
            <a:r>
              <a:rPr lang="en-GB" dirty="0"/>
              <a:t>:</a:t>
            </a:r>
          </a:p>
          <a:p>
            <a:pPr lvl="1">
              <a:buFont typeface="Wingdings" pitchFamily="2" charset="2"/>
              <a:buChar char="ü"/>
            </a:pPr>
            <a:r>
              <a:rPr lang="en-GB" dirty="0"/>
              <a:t>Total stock in quintals</a:t>
            </a:r>
          </a:p>
          <a:p>
            <a:pPr lvl="1">
              <a:buFont typeface="Wingdings" pitchFamily="2" charset="2"/>
              <a:buChar char="ü"/>
            </a:pPr>
            <a:r>
              <a:rPr lang="en-GB" dirty="0"/>
              <a:t>Monthly distributed quantity</a:t>
            </a:r>
          </a:p>
          <a:p>
            <a:pPr lvl="1">
              <a:buFont typeface="Wingdings" pitchFamily="2" charset="2"/>
              <a:buChar char="ü"/>
            </a:pPr>
            <a:r>
              <a:rPr lang="en-GB" dirty="0"/>
              <a:t>Number of registered farmers</a:t>
            </a:r>
          </a:p>
          <a:p>
            <a:pPr lvl="1">
              <a:buFont typeface="Wingdings" pitchFamily="2" charset="2"/>
              <a:buChar char="ü"/>
            </a:pPr>
            <a:r>
              <a:rPr lang="en-GB" dirty="0"/>
              <a:t>Active shipments</a:t>
            </a:r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F8A1-5339-4127-B77D-C375DEA063B1}" type="datetime1">
              <a:rPr lang="en-GB" smtClean="0"/>
              <a:t>16/03/2026</a:t>
            </a:fld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09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3367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b="1" dirty="0" smtClean="0"/>
              <a:t> Inventory Management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 smtClean="0"/>
              <a:t>Features</a:t>
            </a:r>
            <a:r>
              <a:rPr lang="en-GB" sz="2400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Add, edit, delete inventory records (Admin/Supplier only)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Track fertilizer type, quantity (quintals), warehouse location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Statistics: total batches, total stock, warehouse count, DAP/Urea </a:t>
            </a:r>
            <a:r>
              <a:rPr lang="en-GB" sz="2400" dirty="0" smtClean="0"/>
              <a:t>totals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 smtClean="0"/>
              <a:t>Data Validation</a:t>
            </a:r>
            <a:r>
              <a:rPr lang="en-GB" sz="2400" dirty="0" smtClean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 smtClean="0"/>
              <a:t>Quantity must be positive integer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 smtClean="0"/>
              <a:t>Fertilizer type from predefined list (DAP, Urea, NPS, NPSB)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 smtClean="0"/>
              <a:t>Warehouse from dropdown (Debark Central, Gondar Hub, etc.)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 smtClean="0"/>
              <a:t>Responsive Table</a:t>
            </a:r>
            <a:r>
              <a:rPr lang="en-GB" sz="2400" dirty="0" smtClean="0"/>
              <a:t> with inline action buttons</a:t>
            </a:r>
          </a:p>
          <a:p>
            <a:pPr lvl="1">
              <a:buFont typeface="Wingdings" pitchFamily="2" charset="2"/>
              <a:buChar char="Ø"/>
            </a:pPr>
            <a:endParaRPr lang="en-GB" sz="2400" dirty="0"/>
          </a:p>
          <a:p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8362-C022-4E29-8E52-8023E0748362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31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19" y="260648"/>
            <a:ext cx="8673275" cy="63367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b="1" dirty="0"/>
              <a:t>Distribution Tracking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Form</a:t>
            </a:r>
            <a:r>
              <a:rPr lang="en-GB" sz="2400" dirty="0"/>
              <a:t> to record new distributions: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Region (letters/spaces/hyphens only)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Fertilizer type (select)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Quantity (positive integer, min 1 </a:t>
            </a:r>
            <a:r>
              <a:rPr lang="en-GB" sz="2400" dirty="0" err="1"/>
              <a:t>Qtl</a:t>
            </a:r>
            <a:r>
              <a:rPr lang="en-GB" sz="2400" dirty="0"/>
              <a:t>)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Distribution date (defaults to today)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Status (Pending, Delivered, Leakage Alert)</a:t>
            </a:r>
          </a:p>
          <a:p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48B8-CCF7-4222-97B5-59B797AFAD3C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529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600" b="1" dirty="0" smtClean="0"/>
              <a:t>  Table</a:t>
            </a:r>
            <a:r>
              <a:rPr lang="en-GB" sz="2600" dirty="0" smtClean="0"/>
              <a:t> showing all distributions with delete option (Admin/Supplier)</a:t>
            </a:r>
          </a:p>
          <a:p>
            <a:pPr>
              <a:buFont typeface="Wingdings" pitchFamily="2" charset="2"/>
              <a:buChar char="v"/>
            </a:pPr>
            <a:r>
              <a:rPr lang="en-GB" sz="2600" b="1" dirty="0" smtClean="0"/>
              <a:t> Validation</a:t>
            </a:r>
            <a:r>
              <a:rPr lang="en-GB" sz="2600" dirty="0" smtClean="0"/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en-GB" sz="2600" dirty="0" smtClean="0"/>
              <a:t>Server‑side: region regex, quantity &gt;0 and integer</a:t>
            </a:r>
          </a:p>
          <a:p>
            <a:pPr lvl="1">
              <a:buFont typeface="Wingdings" pitchFamily="2" charset="2"/>
              <a:buChar char="§"/>
            </a:pPr>
            <a:r>
              <a:rPr lang="en-GB" sz="2600" dirty="0" smtClean="0"/>
              <a:t>Client‑side: real‑time feedback for quantity and region</a:t>
            </a:r>
          </a:p>
          <a:p>
            <a:pPr>
              <a:buFont typeface="Wingdings" pitchFamily="2" charset="2"/>
              <a:buChar char="q"/>
            </a:pPr>
            <a:r>
              <a:rPr lang="en-GB" sz="2600" b="1" dirty="0"/>
              <a:t>Shipment Management</a:t>
            </a:r>
          </a:p>
          <a:p>
            <a:pPr>
              <a:buFont typeface="Wingdings" pitchFamily="2" charset="2"/>
              <a:buChar char="v"/>
            </a:pPr>
            <a:r>
              <a:rPr lang="en-GB" sz="2600" b="1" dirty="0"/>
              <a:t>Add Shipment</a:t>
            </a:r>
            <a:r>
              <a:rPr lang="en-GB" sz="2600" dirty="0"/>
              <a:t> (Admin only):</a:t>
            </a:r>
          </a:p>
          <a:p>
            <a:pPr lvl="1">
              <a:buFont typeface="Wingdings" pitchFamily="2" charset="2"/>
              <a:buChar char="Ø"/>
            </a:pPr>
            <a:r>
              <a:rPr lang="en-GB" sz="2600" dirty="0"/>
              <a:t>Truck plate, driver name, region, </a:t>
            </a:r>
            <a:r>
              <a:rPr lang="en-GB" sz="2600" dirty="0" err="1"/>
              <a:t>woreda</a:t>
            </a:r>
            <a:r>
              <a:rPr lang="en-GB" sz="2600" dirty="0"/>
              <a:t>, hub, ETA, status</a:t>
            </a:r>
          </a:p>
          <a:p>
            <a:pPr>
              <a:buFont typeface="Wingdings" pitchFamily="2" charset="2"/>
              <a:buChar char="v"/>
            </a:pPr>
            <a:r>
              <a:rPr lang="en-GB" sz="2600" b="1" dirty="0"/>
              <a:t>Table</a:t>
            </a:r>
            <a:r>
              <a:rPr lang="en-GB" sz="2600" dirty="0"/>
              <a:t> of shipments with status badges (In‑Transit, Delivered, Delayed)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E04D-FA93-4276-89C7-AACE69D7DE5C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01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88640"/>
            <a:ext cx="8229600" cy="648072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sz="2800" b="1" dirty="0"/>
              <a:t>Actions</a:t>
            </a:r>
            <a:r>
              <a:rPr lang="en-GB" sz="2800" dirty="0"/>
              <a:t>:</a:t>
            </a:r>
          </a:p>
          <a:p>
            <a:pPr lvl="1">
              <a:buFont typeface="Wingdings" pitchFamily="2" charset="2"/>
              <a:buChar char="ü"/>
            </a:pPr>
            <a:r>
              <a:rPr lang="en-GB" dirty="0"/>
              <a:t>Change status (Admin)</a:t>
            </a:r>
          </a:p>
          <a:p>
            <a:pPr lvl="1">
              <a:buFont typeface="Wingdings" pitchFamily="2" charset="2"/>
              <a:buChar char="ü"/>
            </a:pPr>
            <a:r>
              <a:rPr lang="en-GB" dirty="0"/>
              <a:t>Delete shipment</a:t>
            </a:r>
          </a:p>
          <a:p>
            <a:pPr>
              <a:buFont typeface="Wingdings" pitchFamily="2" charset="2"/>
              <a:buChar char="v"/>
            </a:pPr>
            <a:r>
              <a:rPr lang="en-GB" sz="2800" b="1" dirty="0"/>
              <a:t>Statistics Cards</a:t>
            </a:r>
            <a:r>
              <a:rPr lang="en-GB" sz="2800" dirty="0"/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en-GB" dirty="0"/>
              <a:t>Total shipments, in‑transit, delivered, delayed</a:t>
            </a:r>
          </a:p>
          <a:p>
            <a:pPr>
              <a:buFont typeface="Wingdings" pitchFamily="2" charset="2"/>
              <a:buChar char="v"/>
            </a:pPr>
            <a:r>
              <a:rPr lang="en-GB" sz="2800" b="1" dirty="0"/>
              <a:t>Validation</a:t>
            </a:r>
            <a:r>
              <a:rPr lang="en-GB" sz="2800" dirty="0"/>
              <a:t>: all fields required, ETA free text</a:t>
            </a:r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3D1-7ECB-4650-BD72-E98C3135ACC0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444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926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b="1" dirty="0"/>
              <a:t>Farmer Registry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Purpose</a:t>
            </a:r>
            <a:r>
              <a:rPr lang="en-GB" sz="2400" dirty="0"/>
              <a:t>: Register smallholder farmers with land size and calculate fertilizer requirement (land × 3 </a:t>
            </a:r>
            <a:r>
              <a:rPr lang="en-GB" sz="2400" dirty="0" err="1"/>
              <a:t>Qtl</a:t>
            </a:r>
            <a:r>
              <a:rPr lang="en-GB" sz="2400" dirty="0"/>
              <a:t>/ha)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Fields</a:t>
            </a:r>
            <a:r>
              <a:rPr lang="en-GB" sz="2400" dirty="0"/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en-GB" sz="2400" dirty="0"/>
              <a:t>Region (dropdown), full name, </a:t>
            </a:r>
            <a:r>
              <a:rPr lang="en-GB" sz="2400" dirty="0" err="1"/>
              <a:t>woreda</a:t>
            </a:r>
            <a:r>
              <a:rPr lang="en-GB" sz="2400" dirty="0"/>
              <a:t>, </a:t>
            </a:r>
            <a:r>
              <a:rPr lang="en-GB" sz="2400" dirty="0" err="1"/>
              <a:t>kebele</a:t>
            </a:r>
            <a:r>
              <a:rPr lang="en-GB" sz="2400" dirty="0"/>
              <a:t>, land size (hectares)</a:t>
            </a:r>
          </a:p>
          <a:p>
            <a:pPr lvl="1">
              <a:buFont typeface="Wingdings" pitchFamily="2" charset="2"/>
              <a:buChar char="§"/>
            </a:pPr>
            <a:r>
              <a:rPr lang="en-GB" sz="2400" dirty="0"/>
              <a:t>Auto‑generated farmer ID (e.g., FARM-2025-XXXX)</a:t>
            </a:r>
          </a:p>
          <a:p>
            <a:pPr lvl="1">
              <a:buFont typeface="Wingdings" pitchFamily="2" charset="2"/>
              <a:buChar char="§"/>
            </a:pPr>
            <a:r>
              <a:rPr lang="en-GB" sz="2400" dirty="0"/>
              <a:t>Status (Active/Inactive)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Statistics Cards</a:t>
            </a:r>
            <a:r>
              <a:rPr lang="en-GB" sz="2400" dirty="0"/>
              <a:t>: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Total farmers, active farmers, total land, total requirement, regions covered</a:t>
            </a:r>
          </a:p>
          <a:p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CB15-88C9-4F91-8C89-CEDF9B05D346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58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4350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400" b="1" dirty="0"/>
              <a:t>Permissions</a:t>
            </a:r>
            <a:r>
              <a:rPr lang="en-GB" sz="2400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Admin/Retailer: add, edit, delete, toggle status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/>
              <a:t>Customer: view </a:t>
            </a:r>
            <a:r>
              <a:rPr lang="en-GB" sz="2400" dirty="0" smtClean="0"/>
              <a:t>only</a:t>
            </a:r>
          </a:p>
          <a:p>
            <a:pPr>
              <a:buFont typeface="Wingdings" pitchFamily="2" charset="2"/>
              <a:buChar char="q"/>
            </a:pPr>
            <a:r>
              <a:rPr lang="en-GB" sz="2400" b="1" dirty="0"/>
              <a:t>Reports &amp; Analytics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Filters</a:t>
            </a:r>
            <a:r>
              <a:rPr lang="en-GB" sz="2400" dirty="0"/>
              <a:t>: Date range, region, report type</a:t>
            </a:r>
          </a:p>
          <a:p>
            <a:pPr>
              <a:buFont typeface="Wingdings" pitchFamily="2" charset="2"/>
              <a:buChar char="v"/>
            </a:pPr>
            <a:r>
              <a:rPr lang="en-GB" sz="2400" b="1" dirty="0"/>
              <a:t>Export Options</a:t>
            </a:r>
            <a:r>
              <a:rPr lang="en-GB" sz="2400" dirty="0"/>
              <a:t>: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Excel (.</a:t>
            </a:r>
            <a:r>
              <a:rPr lang="en-GB" sz="2400" dirty="0" err="1"/>
              <a:t>xls</a:t>
            </a:r>
            <a:r>
              <a:rPr lang="en-GB" sz="2400" dirty="0"/>
              <a:t>) – server‑generated HTML table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PDF – dynamic HTML with print styling or optional </a:t>
            </a:r>
            <a:r>
              <a:rPr lang="en-GB" sz="2400" dirty="0" err="1"/>
              <a:t>mPDF</a:t>
            </a:r>
            <a:endParaRPr lang="en-GB" sz="2400" dirty="0"/>
          </a:p>
          <a:p>
            <a:pPr lvl="1">
              <a:buFont typeface="Wingdings" pitchFamily="2" charset="2"/>
              <a:buChar char="ü"/>
            </a:pPr>
            <a:r>
              <a:rPr lang="en-GB" sz="2400" dirty="0"/>
              <a:t>Print – browser print dialogue</a:t>
            </a:r>
          </a:p>
          <a:p>
            <a:pPr lvl="1">
              <a:buFont typeface="Wingdings" pitchFamily="2" charset="2"/>
              <a:buChar char="Ø"/>
            </a:pPr>
            <a:endParaRPr lang="en-GB" sz="2400" dirty="0"/>
          </a:p>
          <a:p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BC7C-A2AB-49AE-AD7B-B65D22F0EBD8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727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83962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400" b="1" dirty="0"/>
              <a:t>Tabs</a:t>
            </a:r>
            <a:r>
              <a:rPr lang="en-GB" sz="2400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b="1" dirty="0"/>
              <a:t>Summary</a:t>
            </a:r>
            <a:r>
              <a:rPr lang="en-GB" sz="2400" dirty="0"/>
              <a:t>: Regional pie chart, monthly trend line, key stats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b="1" dirty="0"/>
              <a:t>Distribution</a:t>
            </a:r>
            <a:r>
              <a:rPr lang="en-GB" sz="2400" dirty="0"/>
              <a:t>: Regional breakdown, monthly performance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b="1" dirty="0"/>
              <a:t>Inventory</a:t>
            </a:r>
            <a:r>
              <a:rPr lang="en-GB" sz="2400" dirty="0"/>
              <a:t>: Stock by fertilizer type, warehouse summary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b="1" dirty="0"/>
              <a:t>Farmers</a:t>
            </a:r>
            <a:r>
              <a:rPr lang="en-GB" sz="2400" dirty="0"/>
              <a:t>: Farmer counts by region, land/requirement stats</a:t>
            </a:r>
          </a:p>
          <a:p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CFBF-F3ED-4B45-AD4B-4A9D770A2799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44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GB" sz="2800" dirty="0" smtClean="0"/>
              <a:t>Database Schema (Key Tables)</a:t>
            </a:r>
            <a:endParaRPr lang="en-GB" sz="28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4704"/>
            <a:ext cx="8785225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5026-1369-46F8-AA09-6BE755F291F8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771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2646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b="1" smtClean="0"/>
              <a:t>UI </a:t>
            </a:r>
            <a:r>
              <a:rPr lang="en-GB" sz="2400" b="1" dirty="0"/>
              <a:t>Highlights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Dark Mode Toggle</a:t>
            </a:r>
            <a:r>
              <a:rPr lang="en-GB" sz="2400" dirty="0"/>
              <a:t>: User preference saved in cookie, applies globally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Sidebar Collapse</a:t>
            </a:r>
            <a:r>
              <a:rPr lang="en-GB" sz="2400" dirty="0"/>
              <a:t>: Responsive design, collapses on mobile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Alert Messages</a:t>
            </a:r>
            <a:r>
              <a:rPr lang="en-GB" sz="2400" dirty="0"/>
              <a:t>: Auto‑hide after 3 seconds (success/error/warning)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Modal Forms</a:t>
            </a:r>
            <a:r>
              <a:rPr lang="en-GB" sz="2400" dirty="0"/>
              <a:t>: Used for adding farmers and </a:t>
            </a:r>
            <a:r>
              <a:rPr lang="en-GB" sz="2400" dirty="0" smtClean="0"/>
              <a:t>shipments.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3B755-FC80-4432-AF2A-1BA6819976D6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15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88640"/>
            <a:ext cx="8229600" cy="64087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b="1" dirty="0"/>
              <a:t> Deployment Instructions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Import </a:t>
            </a:r>
            <a:r>
              <a:rPr lang="en-GB" sz="2400" dirty="0" err="1"/>
              <a:t>database.sql</a:t>
            </a:r>
            <a:r>
              <a:rPr lang="en-GB" sz="2400" dirty="0"/>
              <a:t> into MySQL (create database </a:t>
            </a:r>
            <a:r>
              <a:rPr lang="en-GB" sz="2400" dirty="0" err="1"/>
              <a:t>fsc_inventory</a:t>
            </a:r>
            <a:r>
              <a:rPr lang="en-GB" sz="24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Configure </a:t>
            </a:r>
            <a:r>
              <a:rPr lang="en-GB" sz="2400" dirty="0" err="1"/>
              <a:t>db_connect.php</a:t>
            </a:r>
            <a:r>
              <a:rPr lang="en-GB" sz="2400" dirty="0"/>
              <a:t> with your database credentials.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Place all files in a web server directory (e.g., </a:t>
            </a:r>
            <a:r>
              <a:rPr lang="en-GB" sz="2400" dirty="0" err="1"/>
              <a:t>htdocs</a:t>
            </a:r>
            <a:r>
              <a:rPr lang="en-GB" sz="2400" dirty="0"/>
              <a:t>/</a:t>
            </a:r>
            <a:r>
              <a:rPr lang="en-GB" sz="2400" dirty="0" err="1"/>
              <a:t>fsc</a:t>
            </a:r>
            <a:r>
              <a:rPr lang="en-GB" sz="24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Access </a:t>
            </a:r>
            <a:r>
              <a:rPr lang="en-GB" sz="2400" dirty="0" err="1"/>
              <a:t>index.php</a:t>
            </a:r>
            <a:r>
              <a:rPr lang="en-GB" sz="2400" dirty="0"/>
              <a:t> to view the landing page.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CHECK MANAGER  SAMPLE:</a:t>
            </a:r>
            <a:endParaRPr lang="en-GB" sz="2400" dirty="0"/>
          </a:p>
          <a:p>
            <a:pPr lvl="1">
              <a:buFont typeface="Wingdings" pitchFamily="2" charset="2"/>
              <a:buChar char="§"/>
            </a:pPr>
            <a:r>
              <a:rPr lang="en-GB" sz="2400" dirty="0"/>
              <a:t>Admin: admin / admin123</a:t>
            </a:r>
          </a:p>
          <a:p>
            <a:pPr lvl="1">
              <a:buFont typeface="Wingdings" pitchFamily="2" charset="2"/>
              <a:buChar char="§"/>
            </a:pPr>
            <a:r>
              <a:rPr lang="en-GB" sz="2400" dirty="0"/>
              <a:t>Supplier: supplier / supplier123</a:t>
            </a:r>
          </a:p>
          <a:p>
            <a:pPr lvl="1">
              <a:buFont typeface="Wingdings" pitchFamily="2" charset="2"/>
              <a:buChar char="§"/>
            </a:pPr>
            <a:r>
              <a:rPr lang="en-GB" sz="2400" dirty="0"/>
              <a:t>Retailer: retailer / retailer123</a:t>
            </a:r>
          </a:p>
          <a:p>
            <a:pPr lvl="1">
              <a:buFont typeface="Wingdings" pitchFamily="2" charset="2"/>
              <a:buChar char="§"/>
            </a:pPr>
            <a:r>
              <a:rPr lang="en-GB" sz="2400" dirty="0"/>
              <a:t>Customer: customer / customer123</a:t>
            </a:r>
          </a:p>
          <a:p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D40B8-8BE7-46D3-BA04-ADF01C0B9F25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825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087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b="1" dirty="0" smtClean="0"/>
              <a:t>  Future </a:t>
            </a:r>
            <a:r>
              <a:rPr lang="en-GB" sz="2400" b="1" dirty="0"/>
              <a:t>Enhancements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Real‑time GPS tracking</a:t>
            </a:r>
            <a:r>
              <a:rPr lang="en-GB" sz="2400" dirty="0"/>
              <a:t> for shipments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SMS alerts</a:t>
            </a:r>
            <a:r>
              <a:rPr lang="en-GB" sz="2400" dirty="0"/>
              <a:t> to farmers when fertilizer arrives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Mobile‑first PWA</a:t>
            </a:r>
            <a:r>
              <a:rPr lang="en-GB" sz="2400" dirty="0"/>
              <a:t> for field agents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Leakage detection</a:t>
            </a:r>
            <a:r>
              <a:rPr lang="en-GB" sz="2400" dirty="0"/>
              <a:t> using AI on distribution patterns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Integration with Ethiopian Agricultural Transformation Agency (ATA)</a:t>
            </a:r>
            <a:r>
              <a:rPr lang="en-GB" sz="2400" dirty="0"/>
              <a:t> data feeds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/>
              <a:t>Multi‑language support</a:t>
            </a:r>
            <a:r>
              <a:rPr lang="en-GB" sz="2400" dirty="0"/>
              <a:t> (Amharic, English)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F4ACB-309C-4086-8F10-E6C43BCA8DE3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983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264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 smtClean="0"/>
              <a:t>                                  Conclusion</a:t>
            </a:r>
            <a:endParaRPr lang="en-GB" sz="2400" b="1" dirty="0"/>
          </a:p>
          <a:p>
            <a:pPr>
              <a:buFont typeface="Wingdings" pitchFamily="2" charset="2"/>
              <a:buChar char="§"/>
            </a:pPr>
            <a:r>
              <a:rPr lang="en-GB" sz="2400" dirty="0"/>
              <a:t>A complete, role‑based web application for managing the fertilizer supply chain in Debark, Ethiopia.</a:t>
            </a:r>
          </a:p>
          <a:p>
            <a:pPr>
              <a:buFont typeface="Wingdings" pitchFamily="2" charset="2"/>
              <a:buChar char="§"/>
            </a:pPr>
            <a:r>
              <a:rPr lang="en-GB" sz="2400" dirty="0"/>
              <a:t>Enables transparent tracking of inventory, distribution, and shipments.</a:t>
            </a:r>
          </a:p>
          <a:p>
            <a:pPr>
              <a:buFont typeface="Wingdings" pitchFamily="2" charset="2"/>
              <a:buChar char="§"/>
            </a:pPr>
            <a:r>
              <a:rPr lang="en-GB" sz="2400" dirty="0"/>
              <a:t>Empowers different stakeholders with appropriate access.</a:t>
            </a:r>
          </a:p>
          <a:p>
            <a:pPr>
              <a:buFont typeface="Wingdings" pitchFamily="2" charset="2"/>
              <a:buChar char="§"/>
            </a:pPr>
            <a:r>
              <a:rPr lang="en-GB" sz="2400" dirty="0"/>
              <a:t>Built with open‑source technologies, easy to extend and deploy.</a:t>
            </a:r>
          </a:p>
          <a:p>
            <a:pPr>
              <a:buFont typeface="Wingdings" pitchFamily="2" charset="2"/>
              <a:buChar char="§"/>
            </a:pPr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A7819-B65F-4623-8CA2-48DC77869354}" type="datetime1">
              <a:rPr lang="en-GB" smtClean="0"/>
              <a:t>16/03/2026</a:t>
            </a:fld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058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20201703">
            <a:off x="306091" y="1891106"/>
            <a:ext cx="8229600" cy="1923957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                      THANK YOU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                      THE END   !!!      </a:t>
            </a:r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937-ACB6-4FC1-8CC9-9A365E551EFF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3D15-C351-4604-8CE3-DA104C24B46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54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585</Words>
  <Application>Microsoft Office PowerPoint</Application>
  <PresentationFormat>On-screen Show (4:3)</PresentationFormat>
  <Paragraphs>160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 Technology Stack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Schema (Key Tables)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12</cp:revision>
  <dcterms:created xsi:type="dcterms:W3CDTF">2026-03-16T19:42:03Z</dcterms:created>
  <dcterms:modified xsi:type="dcterms:W3CDTF">2026-03-16T18:14:12Z</dcterms:modified>
</cp:coreProperties>
</file>